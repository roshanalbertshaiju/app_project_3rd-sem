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822960"/>
            <a:ext cx="10362895" cy="5212080"/>
          </a:xfrm>
          <a:prstGeom prst="roundRect">
            <a:avLst/>
          </a:prstGeom>
          <a:solidFill>
            <a:srgbClr val="1250AF"/>
          </a:solidFill>
          <a:ln w="19050">
            <a:solidFill>
              <a:srgbClr val="286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80160"/>
            <a:ext cx="9448495" cy="4297680"/>
          </a:xfrm>
          <a:prstGeom prst="rect">
            <a:avLst/>
          </a:prstGeom>
          <a:noFill/>
        </p:spPr>
        <p:txBody>
          <a:bodyPr wrap="square">
            <a:spAutoFit/>
          </a:bodyPr>
          <a:lstStyle/>
          <a:p>
            <a:pPr>
              <a:spcAft>
                <a:spcPts val="1400"/>
              </a:spcAft>
              <a:defRPr sz="1200" b="1">
                <a:solidFill>
                  <a:srgbClr val="BBDEFB"/>
                </a:solidFill>
                <a:latin typeface="Segoe UI"/>
              </a:defRPr>
            </a:pPr>
            <a:r>
              <a:t>SRM INSTITUTE OF SCIENCE AND TECHNOLOGY — TIRUCHIRAPPALLI</a:t>
            </a:r>
          </a:p>
          <a:p>
            <a:pPr>
              <a:spcAft>
                <a:spcPts val="400"/>
              </a:spcAft>
              <a:defRPr sz="4000" b="1">
                <a:solidFill>
                  <a:srgbClr val="FFFFFF"/>
                </a:solidFill>
                <a:latin typeface="Segoe UI"/>
              </a:defRPr>
            </a:pPr>
            <a:r>
              <a:t>EXAMOPT</a:t>
            </a:r>
          </a:p>
          <a:p>
            <a:pPr>
              <a:spcAft>
                <a:spcPts val="2800"/>
              </a:spcAft>
              <a:defRPr sz="1800">
                <a:solidFill>
                  <a:srgbClr val="E3F2FD"/>
                </a:solidFill>
                <a:latin typeface="Segoe UI"/>
              </a:defRPr>
            </a:pPr>
            <a:r>
              <a:t>Intelligent Examination Timetable Scheduling &amp; Optimization System</a:t>
            </a:r>
          </a:p>
          <a:p>
            <a:pPr>
              <a:lnSpc>
                <a:spcPct val="130000"/>
              </a:lnSpc>
              <a:defRPr sz="1200">
                <a:solidFill>
                  <a:srgbClr val="FFFFFF"/>
                </a:solidFill>
                <a:latin typeface="Segoe UI"/>
              </a:defRPr>
            </a:pPr>
            <a:r>
              <a:t>COURSE: Advanced Programming Practice (APP) | 2nd Year B.Tech CSE (Core)</a:t>
            </a:r>
            <a:br/>
            <a:r>
              <a:t>MILESTONE: 100% Production Capstone Review (All Milestones 1–12 Complete)</a:t>
            </a:r>
            <a:br/>
            <a:r>
              <a:t>TEAM: Suhas V A  •  Subaash G  •  Roshan Albert Shaiju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THE CHALLENGE</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Problem Statement &amp; Project Motivation</a:t>
            </a:r>
          </a:p>
        </p:txBody>
      </p:sp>
      <p:sp>
        <p:nvSpPr>
          <p:cNvPr id="5" name="Rounded Rectangle 4"/>
          <p:cNvSpPr/>
          <p:nvPr/>
        </p:nvSpPr>
        <p:spPr>
          <a:xfrm>
            <a:off x="731520" y="1371600"/>
            <a:ext cx="32918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2926080" cy="4389120"/>
          </a:xfrm>
          <a:prstGeom prst="rect">
            <a:avLst/>
          </a:prstGeom>
          <a:noFill/>
        </p:spPr>
        <p:txBody>
          <a:bodyPr wrap="square">
            <a:spAutoFit/>
          </a:bodyPr>
          <a:lstStyle/>
          <a:p>
            <a:pPr>
              <a:spcAft>
                <a:spcPts val="1000"/>
              </a:spcAft>
              <a:defRPr sz="1400" b="1">
                <a:solidFill>
                  <a:srgbClr val="1565C0"/>
                </a:solidFill>
                <a:latin typeface="Segoe UI"/>
              </a:defRPr>
            </a:pPr>
            <a:r>
              <a:t>📌 The Administrative Nightmare</a:t>
            </a:r>
          </a:p>
          <a:p>
            <a:pPr>
              <a:lnSpc>
                <a:spcPct val="125000"/>
              </a:lnSpc>
              <a:defRPr sz="1100">
                <a:solidFill>
                  <a:srgbClr val="334155"/>
                </a:solidFill>
                <a:latin typeface="Segoe UI"/>
              </a:defRPr>
            </a:pPr>
            <a:r>
              <a:t>• In university operations, exam scheduling is a high-stakes, manual ordeal spanning 2–3 weeks.</a:t>
            </a:r>
            <a:br/>
            <a:br/>
            <a:r>
              <a:t>• Multiple departments (CSE, IT, ECE) share electives, creating non-trivial student overlaps.</a:t>
            </a:r>
            <a:br/>
            <a:br/>
            <a:r>
              <a:t>• Classrooms vary widely in capacity (15 to 120 seats), leading to room fragmentation or severe shortages.</a:t>
            </a:r>
            <a:br/>
            <a:br/>
            <a:r>
              <a:t>• Human error inevitably leads to student exam clashes and double-booked halls.</a:t>
            </a:r>
          </a:p>
        </p:txBody>
      </p:sp>
      <p:sp>
        <p:nvSpPr>
          <p:cNvPr id="7" name="Rounded Rectangle 6"/>
          <p:cNvSpPr/>
          <p:nvPr/>
        </p:nvSpPr>
        <p:spPr>
          <a:xfrm>
            <a:off x="4389120" y="1371600"/>
            <a:ext cx="32918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54480"/>
            <a:ext cx="2926080" cy="4389120"/>
          </a:xfrm>
          <a:prstGeom prst="rect">
            <a:avLst/>
          </a:prstGeom>
          <a:noFill/>
        </p:spPr>
        <p:txBody>
          <a:bodyPr wrap="square">
            <a:spAutoFit/>
          </a:bodyPr>
          <a:lstStyle/>
          <a:p>
            <a:pPr>
              <a:spcAft>
                <a:spcPts val="1000"/>
              </a:spcAft>
              <a:defRPr sz="1400" b="1">
                <a:solidFill>
                  <a:srgbClr val="1565C0"/>
                </a:solidFill>
                <a:latin typeface="Segoe UI"/>
              </a:defRPr>
            </a:pPr>
            <a:r>
              <a:t>⚙️ NP-Hard Complexity</a:t>
            </a:r>
          </a:p>
          <a:p>
            <a:pPr>
              <a:lnSpc>
                <a:spcPct val="125000"/>
              </a:lnSpc>
              <a:defRPr sz="1100">
                <a:solidFill>
                  <a:srgbClr val="334155"/>
                </a:solidFill>
                <a:latin typeface="Segoe UI"/>
              </a:defRPr>
            </a:pPr>
            <a:r>
              <a:t>• Formulated as an Examination Timetabling Problem (ETP), a proven NP-hard Constraint Satisfaction Problem (CSP).</a:t>
            </a:r>
            <a:br/>
            <a:br/>
            <a:r>
              <a:t>• Search space scales combinatorially: O((T × R × F)^S).</a:t>
            </a:r>
            <a:br/>
            <a:br/>
            <a:r>
              <a:t>• Brute force search is mathematically impossible for realistic university cohorts (10^20+ states).</a:t>
            </a:r>
            <a:br/>
            <a:br/>
            <a:r>
              <a:t>• Requires intelligent heuristics and rigorous constraint satisfaction algorithms.</a:t>
            </a:r>
          </a:p>
        </p:txBody>
      </p:sp>
      <p:sp>
        <p:nvSpPr>
          <p:cNvPr id="9" name="Rounded Rectangle 8"/>
          <p:cNvSpPr/>
          <p:nvPr/>
        </p:nvSpPr>
        <p:spPr>
          <a:xfrm>
            <a:off x="8046720" y="137160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554480"/>
            <a:ext cx="3017520" cy="4389120"/>
          </a:xfrm>
          <a:prstGeom prst="rect">
            <a:avLst/>
          </a:prstGeom>
          <a:noFill/>
        </p:spPr>
        <p:txBody>
          <a:bodyPr wrap="square">
            <a:spAutoFit/>
          </a:bodyPr>
          <a:lstStyle/>
          <a:p>
            <a:pPr>
              <a:spcAft>
                <a:spcPts val="1000"/>
              </a:spcAft>
              <a:defRPr sz="1400" b="1">
                <a:solidFill>
                  <a:srgbClr val="1565C0"/>
                </a:solidFill>
                <a:latin typeface="Segoe UI"/>
              </a:defRPr>
            </a:pPr>
            <a:r>
              <a:t>🚀 The ExamOpt Solution</a:t>
            </a:r>
          </a:p>
          <a:p>
            <a:pPr>
              <a:lnSpc>
                <a:spcPct val="125000"/>
              </a:lnSpc>
              <a:defRPr sz="1100">
                <a:solidFill>
                  <a:srgbClr val="334155"/>
                </a:solidFill>
                <a:latin typeface="Segoe UI"/>
              </a:defRPr>
            </a:pPr>
            <a:r>
              <a:t>• Automated, heuristic timetable generation in &lt; 100 milliseconds.</a:t>
            </a:r>
            <a:br/>
            <a:br/>
            <a:r>
              <a:t>• Guarantees 100% satisfaction of all hard academic constraints.</a:t>
            </a:r>
            <a:br/>
            <a:br/>
            <a:r>
              <a:t>• Implements Best-Fit room allocation to eliminate empty seat waste.</a:t>
            </a:r>
            <a:br/>
            <a:br/>
            <a:r>
              <a:t>• Comprehensive Tkinter GUI + CLI + persistent SQLite database.</a:t>
            </a:r>
            <a:br/>
            <a:br/>
            <a:r>
              <a:t>• Validated through 24 automated tests and 5 academic review checkpoints.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SYSTEM DESIGN</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Clean Layered Architecture &amp; Design Patterns</a:t>
            </a:r>
          </a:p>
        </p:txBody>
      </p:sp>
      <p:sp>
        <p:nvSpPr>
          <p:cNvPr id="5" name="Rounded Rectangle 4"/>
          <p:cNvSpPr/>
          <p:nvPr/>
        </p:nvSpPr>
        <p:spPr>
          <a:xfrm>
            <a:off x="7315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389120"/>
          </a:xfrm>
          <a:prstGeom prst="rect">
            <a:avLst/>
          </a:prstGeom>
          <a:noFill/>
        </p:spPr>
        <p:txBody>
          <a:bodyPr wrap="square">
            <a:spAutoFit/>
          </a:bodyPr>
          <a:lstStyle/>
          <a:p>
            <a:pPr>
              <a:spcAft>
                <a:spcPts val="1000"/>
              </a:spcAft>
              <a:defRPr sz="1400" b="1">
                <a:solidFill>
                  <a:srgbClr val="1565C0"/>
                </a:solidFill>
                <a:latin typeface="Segoe UI"/>
              </a:defRPr>
            </a:pPr>
            <a:r>
              <a:t>🏛️ Tiered Clean Architecture</a:t>
            </a:r>
          </a:p>
          <a:p>
            <a:pPr>
              <a:lnSpc>
                <a:spcPct val="115000"/>
              </a:lnSpc>
              <a:defRPr sz="950">
                <a:solidFill>
                  <a:srgbClr val="0F172A"/>
                </a:solidFill>
                <a:latin typeface="Consolas"/>
              </a:defRPr>
            </a:pPr>
            <a:r>
              <a:t>Presentation Layer (Tkinter Modern Studio / Classic / CLI)</a:t>
            </a:r>
            <a:br/>
            <a:r>
              <a:t>  │  Calls high-level API methods only</a:t>
            </a:r>
            <a:br/>
            <a:r>
              <a:t>  ▼</a:t>
            </a:r>
            <a:br/>
            <a:r>
              <a:t>Application Service Facade (ExamService)</a:t>
            </a:r>
            <a:br/>
            <a:r>
              <a:t>  │  Coordinates database, scheduling &amp; validation</a:t>
            </a:r>
            <a:br/>
            <a:r>
              <a:t>  ├────────────────────────┬────────────────────────┐</a:t>
            </a:r>
            <a:br/>
            <a:r>
              <a:t>  ▼                        ▼                        ▼</a:t>
            </a:r>
            <a:br/>
            <a:r>
              <a:t>Scheduling Engine    Validation Engine      SQLite Database</a:t>
            </a:r>
            <a:br/>
            <a:r>
              <a:t>(MRV Heuristic)      (6 Constraint Rules)   (Thread-Safe DAO)</a:t>
            </a:r>
            <a:br/>
            <a:r>
              <a:t>  │</a:t>
            </a:r>
            <a:br/>
            <a:r>
              <a:t>  ▼</a:t>
            </a:r>
            <a:br/>
            <a:r>
              <a:t>Room Allocator Engine</a:t>
            </a:r>
            <a:br/>
            <a:r>
              <a:t>(Best-Fit Capacity Matcher)</a:t>
            </a:r>
          </a:p>
        </p:txBody>
      </p:sp>
      <p:sp>
        <p:nvSpPr>
          <p:cNvPr id="7" name="Rounded Rectangle 6"/>
          <p:cNvSpPr/>
          <p:nvPr/>
        </p:nvSpPr>
        <p:spPr>
          <a:xfrm>
            <a:off x="62179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389120"/>
          </a:xfrm>
          <a:prstGeom prst="rect">
            <a:avLst/>
          </a:prstGeom>
          <a:noFill/>
        </p:spPr>
        <p:txBody>
          <a:bodyPr wrap="square">
            <a:spAutoFit/>
          </a:bodyPr>
          <a:lstStyle/>
          <a:p>
            <a:pPr>
              <a:spcAft>
                <a:spcPts val="800"/>
              </a:spcAft>
              <a:defRPr sz="1400" b="1">
                <a:solidFill>
                  <a:srgbClr val="1565C0"/>
                </a:solidFill>
                <a:latin typeface="Segoe UI"/>
              </a:defRPr>
            </a:pPr>
            <a:r>
              <a:t>🎯 Software Design Patterns</a:t>
            </a:r>
          </a:p>
          <a:p>
            <a:pPr>
              <a:spcAft>
                <a:spcPts val="400"/>
              </a:spcAft>
              <a:defRPr sz="1000">
                <a:solidFill>
                  <a:srgbClr val="334155"/>
                </a:solidFill>
                <a:latin typeface="Segoe UI"/>
              </a:defRPr>
            </a:pPr>
            <a:r>
              <a:t>1. Facade Pattern (services/exam_service.py): Single unified gateway hiding SQL, scheduling, and validation complexities from the UI.</a:t>
            </a:r>
          </a:p>
          <a:p>
            <a:pPr>
              <a:spcAft>
                <a:spcPts val="400"/>
              </a:spcAft>
              <a:defRPr sz="1000">
                <a:solidFill>
                  <a:srgbClr val="334155"/>
                </a:solidFill>
                <a:latin typeface="Segoe UI"/>
              </a:defRPr>
            </a:pPr>
            <a:r>
              <a:t>2. DAO / Repository Pattern (database/database.py): Encapsulates all SQLite persistence. Swapping database engines requires modifying only this class.</a:t>
            </a:r>
          </a:p>
          <a:p>
            <a:pPr>
              <a:spcAft>
                <a:spcPts val="400"/>
              </a:spcAft>
              <a:defRPr sz="1000">
                <a:solidFill>
                  <a:srgbClr val="334155"/>
                </a:solidFill>
                <a:latin typeface="Segoe UI"/>
              </a:defRPr>
            </a:pPr>
            <a:r>
              <a:t>3. Strategy Pattern (scheduling/room_allocator.py): Isolates Best-Fit allocation strategy so alternative policies can be plugged in seamlessly.</a:t>
            </a:r>
          </a:p>
          <a:p>
            <a:pPr>
              <a:spcAft>
                <a:spcPts val="400"/>
              </a:spcAft>
              <a:defRPr sz="1000">
                <a:solidFill>
                  <a:srgbClr val="334155"/>
                </a:solidFill>
                <a:latin typeface="Segoe UI"/>
              </a:defRPr>
            </a:pPr>
            <a:r>
              <a:t>4. Specification Pattern (validation/validator.py): Encapsulates academic rules into independent, reusable evaluation methods.</a:t>
            </a:r>
          </a:p>
          <a:p>
            <a:pPr>
              <a:spcAft>
                <a:spcPts val="400"/>
              </a:spcAft>
              <a:defRPr sz="1000">
                <a:solidFill>
                  <a:srgbClr val="334155"/>
                </a:solidFill>
                <a:latin typeface="Segoe UI"/>
              </a:defRPr>
            </a:pPr>
            <a:r>
              <a:t>5. DTO Pattern (models/*.py): Pure Python dataclasses (@dataclass) for clean data transfer across layers.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PERSISTENCE LAYER</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Relational Database Design &amp; Data Integrity</a:t>
            </a:r>
          </a:p>
        </p:txBody>
      </p:sp>
      <p:sp>
        <p:nvSpPr>
          <p:cNvPr id="5" name="Rounded Rectangle 4"/>
          <p:cNvSpPr/>
          <p:nvPr/>
        </p:nvSpPr>
        <p:spPr>
          <a:xfrm>
            <a:off x="731520" y="1371600"/>
            <a:ext cx="5669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5303520" cy="4389120"/>
          </a:xfrm>
          <a:prstGeom prst="rect">
            <a:avLst/>
          </a:prstGeom>
          <a:noFill/>
        </p:spPr>
        <p:txBody>
          <a:bodyPr wrap="square">
            <a:spAutoFit/>
          </a:bodyPr>
          <a:lstStyle/>
          <a:p>
            <a:pPr>
              <a:spcAft>
                <a:spcPts val="800"/>
              </a:spcAft>
              <a:defRPr sz="1400" b="1">
                <a:solidFill>
                  <a:srgbClr val="1565C0"/>
                </a:solidFill>
                <a:latin typeface="Segoe UI"/>
              </a:defRPr>
            </a:pPr>
            <a:r>
              <a:t>🗄️ Normalized Schema (3NF in SQLite)</a:t>
            </a:r>
          </a:p>
          <a:p>
            <a:pPr>
              <a:lnSpc>
                <a:spcPct val="130000"/>
              </a:lnSpc>
              <a:defRPr sz="1000">
                <a:solidFill>
                  <a:srgbClr val="334155"/>
                </a:solidFill>
                <a:latin typeface="Segoe UI"/>
              </a:defRPr>
            </a:pPr>
            <a:r>
              <a:t>• students (student_id PK, name, department, semester)</a:t>
            </a:r>
            <a:br/>
            <a:r>
              <a:t>• subjects (subject_id PK, name, department, semester, duration)</a:t>
            </a:r>
            <a:br/>
            <a:r>
              <a:t>• enrollments (student_id FK, subject_id FK) -&gt; Composite PK</a:t>
            </a:r>
            <a:br/>
            <a:r>
              <a:t>• faculty (faculty_id PK, name, department, is_available)</a:t>
            </a:r>
            <a:br/>
            <a:r>
              <a:t>• rooms (room_id PK, name, capacity, is_available)</a:t>
            </a:r>
            <a:br/>
            <a:r>
              <a:t>• timeslots (slot_id PK, date, start_time, end_time, is_available)</a:t>
            </a:r>
            <a:br/>
            <a:r>
              <a:t>• exams (exam_id PK, subject_id FK, slot_id FK, room_id FK, faculty_id FK, student_count, status, status_reason)</a:t>
            </a:r>
          </a:p>
        </p:txBody>
      </p:sp>
      <p:sp>
        <p:nvSpPr>
          <p:cNvPr id="7" name="Rounded Rectangle 6"/>
          <p:cNvSpPr/>
          <p:nvPr/>
        </p:nvSpPr>
        <p:spPr>
          <a:xfrm>
            <a:off x="6675120" y="1371600"/>
            <a:ext cx="47548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554480"/>
            <a:ext cx="4389120" cy="4389120"/>
          </a:xfrm>
          <a:prstGeom prst="rect">
            <a:avLst/>
          </a:prstGeom>
          <a:noFill/>
        </p:spPr>
        <p:txBody>
          <a:bodyPr wrap="square">
            <a:spAutoFit/>
          </a:bodyPr>
          <a:lstStyle/>
          <a:p>
            <a:pPr>
              <a:spcAft>
                <a:spcPts val="1000"/>
              </a:spcAft>
              <a:defRPr sz="1400" b="1">
                <a:solidFill>
                  <a:srgbClr val="1565C0"/>
                </a:solidFill>
                <a:latin typeface="Segoe UI"/>
              </a:defRPr>
            </a:pPr>
            <a:r>
              <a:t>🔒 Integrity &amp; Performance Features</a:t>
            </a:r>
          </a:p>
          <a:p>
            <a:pPr>
              <a:lnSpc>
                <a:spcPct val="125000"/>
              </a:lnSpc>
              <a:defRPr sz="1050">
                <a:solidFill>
                  <a:srgbClr val="334155"/>
                </a:solidFill>
                <a:latin typeface="Segoe UI"/>
              </a:defRPr>
            </a:pPr>
            <a:r>
              <a:t>• Foreign Key Enforcement:</a:t>
            </a:r>
            <a:br/>
            <a:r>
              <a:t>  Explicitly executed 'PRAGMA foreign_keys = ON;'</a:t>
            </a:r>
            <a:br/>
            <a:br/>
            <a:r>
              <a:t>• Cascading Actions:</a:t>
            </a:r>
            <a:br/>
            <a:r>
              <a:t>  ON DELETE CASCADE for enrollments;</a:t>
            </a:r>
            <a:br/>
            <a:r>
              <a:t>  ON DELETE SET NULL for scheduled exam resources.</a:t>
            </a:r>
            <a:br/>
            <a:br/>
            <a:r>
              <a:t>• Query Optimization (B-Tree Indices):</a:t>
            </a:r>
            <a:br/>
            <a:r>
              <a:t>  CREATE INDEX idx_enrollments_subject ON enrollments(subject_id);</a:t>
            </a:r>
            <a:br/>
            <a:r>
              <a:t>  CREATE INDEX idx_exams_slot ON exams(slot_id);</a:t>
            </a:r>
            <a:br/>
            <a:r>
              <a:t>  Ensures O(1) / O(log N) lookup speeds during validation.</a:t>
            </a:r>
            <a:br/>
            <a:br/>
            <a:r>
              <a:t>• ACID Transactions &amp; Injection Defense:</a:t>
            </a:r>
            <a:br/>
            <a:r>
              <a:t>  Managed via 'with conn:' context managers and parameterized queries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RULE AUDITING</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Constraint Validation Engine (6 Hard Checks)</a:t>
            </a:r>
          </a:p>
        </p:txBody>
      </p:sp>
      <p:sp>
        <p:nvSpPr>
          <p:cNvPr id="5" name="Rounded Rectangle 4"/>
          <p:cNvSpPr/>
          <p:nvPr/>
        </p:nvSpPr>
        <p:spPr>
          <a:xfrm>
            <a:off x="731520" y="128016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17319"/>
            <a:ext cx="4754880" cy="1188720"/>
          </a:xfrm>
          <a:prstGeom prst="rect">
            <a:avLst/>
          </a:prstGeom>
          <a:noFill/>
        </p:spPr>
        <p:txBody>
          <a:bodyPr wrap="square">
            <a:spAutoFit/>
          </a:bodyPr>
          <a:lstStyle/>
          <a:p>
            <a:pPr>
              <a:defRPr sz="1200" b="1">
                <a:solidFill>
                  <a:srgbClr val="1565C0"/>
                </a:solidFill>
                <a:latin typeface="Segoe UI"/>
              </a:defRPr>
            </a:pPr>
            <a:r>
              <a:t>1. Input Integrity</a:t>
            </a:r>
          </a:p>
          <a:p>
            <a:pPr>
              <a:defRPr sz="950">
                <a:solidFill>
                  <a:srgbClr val="334155"/>
                </a:solidFill>
                <a:latin typeface="Segoe UI"/>
              </a:defRPr>
            </a:pPr>
            <a:r>
              <a:t>Verifies all required entities exist and foreign IDs are valid.</a:t>
            </a:r>
          </a:p>
          <a:p>
            <a:pPr>
              <a:defRPr sz="850" b="1">
                <a:solidFill>
                  <a:srgbClr val="C2410C"/>
                </a:solidFill>
                <a:latin typeface="Segoe UI"/>
              </a:defRPr>
            </a:pPr>
            <a:r>
              <a:t>Status Code: INVALID</a:t>
            </a:r>
          </a:p>
        </p:txBody>
      </p:sp>
      <p:sp>
        <p:nvSpPr>
          <p:cNvPr id="7" name="Rounded Rectangle 6"/>
          <p:cNvSpPr/>
          <p:nvPr/>
        </p:nvSpPr>
        <p:spPr>
          <a:xfrm>
            <a:off x="6126480" y="128016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417319"/>
            <a:ext cx="4754880" cy="1188720"/>
          </a:xfrm>
          <a:prstGeom prst="rect">
            <a:avLst/>
          </a:prstGeom>
          <a:noFill/>
        </p:spPr>
        <p:txBody>
          <a:bodyPr wrap="square">
            <a:spAutoFit/>
          </a:bodyPr>
          <a:lstStyle/>
          <a:p>
            <a:pPr>
              <a:defRPr sz="1200" b="1">
                <a:solidFill>
                  <a:srgbClr val="1565C0"/>
                </a:solidFill>
                <a:latin typeface="Segoe UI"/>
              </a:defRPr>
            </a:pPr>
            <a:r>
              <a:t>2. Resource Availability</a:t>
            </a:r>
          </a:p>
          <a:p>
            <a:pPr>
              <a:defRPr sz="950">
                <a:solidFill>
                  <a:srgbClr val="334155"/>
                </a:solidFill>
                <a:latin typeface="Segoe UI"/>
              </a:defRPr>
            </a:pPr>
            <a:r>
              <a:t>Confirms timeslot, room, and faculty are marked active (is_available=1).</a:t>
            </a:r>
          </a:p>
          <a:p>
            <a:pPr>
              <a:defRPr sz="850" b="1">
                <a:solidFill>
                  <a:srgbClr val="C2410C"/>
                </a:solidFill>
                <a:latin typeface="Segoe UI"/>
              </a:defRPr>
            </a:pPr>
            <a:r>
              <a:t>Status Code: ROOM / FACULTY_UNAVAILABLE</a:t>
            </a:r>
          </a:p>
        </p:txBody>
      </p:sp>
      <p:sp>
        <p:nvSpPr>
          <p:cNvPr id="9" name="Rounded Rectangle 8"/>
          <p:cNvSpPr/>
          <p:nvPr/>
        </p:nvSpPr>
        <p:spPr>
          <a:xfrm>
            <a:off x="731520" y="292608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063240"/>
            <a:ext cx="4754880" cy="1188720"/>
          </a:xfrm>
          <a:prstGeom prst="rect">
            <a:avLst/>
          </a:prstGeom>
          <a:noFill/>
        </p:spPr>
        <p:txBody>
          <a:bodyPr wrap="square">
            <a:spAutoFit/>
          </a:bodyPr>
          <a:lstStyle/>
          <a:p>
            <a:pPr>
              <a:defRPr sz="1200" b="1">
                <a:solidFill>
                  <a:srgbClr val="1565C0"/>
                </a:solidFill>
                <a:latin typeface="Segoe UI"/>
              </a:defRPr>
            </a:pPr>
            <a:r>
              <a:t>3. Room Seating Capacity</a:t>
            </a:r>
          </a:p>
          <a:p>
            <a:pPr>
              <a:defRPr sz="950">
                <a:solidFill>
                  <a:srgbClr val="334155"/>
                </a:solidFill>
                <a:latin typeface="Segoe UI"/>
              </a:defRPr>
            </a:pPr>
            <a:r>
              <a:t>Enforces student_count &lt;= room.capacity; computes exact seat deficit.</a:t>
            </a:r>
          </a:p>
          <a:p>
            <a:pPr>
              <a:defRPr sz="850" b="1">
                <a:solidFill>
                  <a:srgbClr val="C2410C"/>
                </a:solidFill>
                <a:latin typeface="Segoe UI"/>
              </a:defRPr>
            </a:pPr>
            <a:r>
              <a:t>Status Code: CAPACITY_EXCEEDED</a:t>
            </a:r>
          </a:p>
        </p:txBody>
      </p:sp>
      <p:sp>
        <p:nvSpPr>
          <p:cNvPr id="11" name="Rounded Rectangle 10"/>
          <p:cNvSpPr/>
          <p:nvPr/>
        </p:nvSpPr>
        <p:spPr>
          <a:xfrm>
            <a:off x="6126480" y="292608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063240"/>
            <a:ext cx="4754880" cy="1188720"/>
          </a:xfrm>
          <a:prstGeom prst="rect">
            <a:avLst/>
          </a:prstGeom>
          <a:noFill/>
        </p:spPr>
        <p:txBody>
          <a:bodyPr wrap="square">
            <a:spAutoFit/>
          </a:bodyPr>
          <a:lstStyle/>
          <a:p>
            <a:pPr>
              <a:defRPr sz="1200" b="1">
                <a:solidFill>
                  <a:srgbClr val="1565C0"/>
                </a:solidFill>
                <a:latin typeface="Segoe UI"/>
              </a:defRPr>
            </a:pPr>
            <a:r>
              <a:t>4. Duplicate Room Booking</a:t>
            </a:r>
          </a:p>
          <a:p>
            <a:pPr>
              <a:defRPr sz="950">
                <a:solidFill>
                  <a:srgbClr val="334155"/>
                </a:solidFill>
                <a:latin typeface="Segoe UI"/>
              </a:defRPr>
            </a:pPr>
            <a:r>
              <a:t>Prevents two exams from occupying the same room during the same timeslot.</a:t>
            </a:r>
          </a:p>
          <a:p>
            <a:pPr>
              <a:defRPr sz="850" b="1">
                <a:solidFill>
                  <a:srgbClr val="C2410C"/>
                </a:solidFill>
                <a:latin typeface="Segoe UI"/>
              </a:defRPr>
            </a:pPr>
            <a:r>
              <a:t>Status Code: DUPLICATE_BOOKING</a:t>
            </a:r>
          </a:p>
        </p:txBody>
      </p:sp>
      <p:sp>
        <p:nvSpPr>
          <p:cNvPr id="13" name="Rounded Rectangle 12"/>
          <p:cNvSpPr/>
          <p:nvPr/>
        </p:nvSpPr>
        <p:spPr>
          <a:xfrm>
            <a:off x="731520" y="457200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09160"/>
            <a:ext cx="4754880" cy="1188720"/>
          </a:xfrm>
          <a:prstGeom prst="rect">
            <a:avLst/>
          </a:prstGeom>
          <a:noFill/>
        </p:spPr>
        <p:txBody>
          <a:bodyPr wrap="square">
            <a:spAutoFit/>
          </a:bodyPr>
          <a:lstStyle/>
          <a:p>
            <a:pPr>
              <a:defRPr sz="1200" b="1">
                <a:solidFill>
                  <a:srgbClr val="1565C0"/>
                </a:solidFill>
                <a:latin typeface="Segoe UI"/>
              </a:defRPr>
            </a:pPr>
            <a:r>
              <a:t>5. Faculty Clash Prevention</a:t>
            </a:r>
          </a:p>
          <a:p>
            <a:pPr>
              <a:defRPr sz="950">
                <a:solidFill>
                  <a:srgbClr val="334155"/>
                </a:solidFill>
                <a:latin typeface="Segoe UI"/>
              </a:defRPr>
            </a:pPr>
            <a:r>
              <a:t>Ensures an invigilator is never assigned to two rooms at the same time.</a:t>
            </a:r>
          </a:p>
          <a:p>
            <a:pPr>
              <a:defRPr sz="850" b="1">
                <a:solidFill>
                  <a:srgbClr val="C2410C"/>
                </a:solidFill>
                <a:latin typeface="Segoe UI"/>
              </a:defRPr>
            </a:pPr>
            <a:r>
              <a:t>Status Code: FACULTY_UNAVAILABLE</a:t>
            </a:r>
          </a:p>
        </p:txBody>
      </p:sp>
      <p:sp>
        <p:nvSpPr>
          <p:cNvPr id="15" name="Rounded Rectangle 14"/>
          <p:cNvSpPr/>
          <p:nvPr/>
        </p:nvSpPr>
        <p:spPr>
          <a:xfrm>
            <a:off x="6126480" y="4572000"/>
            <a:ext cx="5120640" cy="14630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709160"/>
            <a:ext cx="4754880" cy="1188720"/>
          </a:xfrm>
          <a:prstGeom prst="rect">
            <a:avLst/>
          </a:prstGeom>
          <a:noFill/>
        </p:spPr>
        <p:txBody>
          <a:bodyPr wrap="square">
            <a:spAutoFit/>
          </a:bodyPr>
          <a:lstStyle/>
          <a:p>
            <a:pPr>
              <a:defRPr sz="1200" b="1">
                <a:solidFill>
                  <a:srgbClr val="1565C0"/>
                </a:solidFill>
                <a:latin typeface="Segoe UI"/>
              </a:defRPr>
            </a:pPr>
            <a:r>
              <a:t>6. Student Collision (Set Theory)</a:t>
            </a:r>
          </a:p>
          <a:p>
            <a:pPr>
              <a:defRPr sz="950">
                <a:solidFill>
                  <a:srgbClr val="334155"/>
                </a:solidFill>
                <a:latin typeface="Segoe UI"/>
              </a:defRPr>
            </a:pPr>
            <a:r>
              <a:t>Set intersection of enrolled cohorts in the same slot must be empty.</a:t>
            </a:r>
          </a:p>
          <a:p>
            <a:pPr>
              <a:defRPr sz="850" b="1">
                <a:solidFill>
                  <a:srgbClr val="C2410C"/>
                </a:solidFill>
                <a:latin typeface="Segoe UI"/>
              </a:defRPr>
            </a:pPr>
            <a:r>
              <a:t>Status Code: CONFLICT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OPTIMIZATION ENGINE</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Intelligent Scheduling Engine (MRV Heuristic)</a:t>
            </a:r>
          </a:p>
        </p:txBody>
      </p:sp>
      <p:sp>
        <p:nvSpPr>
          <p:cNvPr id="5" name="Rounded Rectangle 4"/>
          <p:cNvSpPr/>
          <p:nvPr/>
        </p:nvSpPr>
        <p:spPr>
          <a:xfrm>
            <a:off x="7315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389120"/>
          </a:xfrm>
          <a:prstGeom prst="rect">
            <a:avLst/>
          </a:prstGeom>
          <a:noFill/>
        </p:spPr>
        <p:txBody>
          <a:bodyPr wrap="square">
            <a:spAutoFit/>
          </a:bodyPr>
          <a:lstStyle/>
          <a:p>
            <a:pPr>
              <a:spcAft>
                <a:spcPts val="1000"/>
              </a:spcAft>
              <a:defRPr sz="1400" b="1">
                <a:solidFill>
                  <a:srgbClr val="1565C0"/>
                </a:solidFill>
                <a:latin typeface="Segoe UI"/>
              </a:defRPr>
            </a:pPr>
            <a:r>
              <a:t>💡 Most Constrained Variable (MRV)</a:t>
            </a:r>
          </a:p>
          <a:p>
            <a:pPr>
              <a:lnSpc>
                <a:spcPct val="130000"/>
              </a:lnSpc>
              <a:defRPr sz="1100">
                <a:solidFill>
                  <a:srgbClr val="334155"/>
                </a:solidFill>
                <a:latin typeface="Segoe UI"/>
              </a:defRPr>
            </a:pPr>
            <a:r>
              <a:t>• The Fail-First Principle:</a:t>
            </a:r>
            <a:br/>
            <a:r>
              <a:t>  In CSPs, scheduling the most restrictive variables first drastically prunes the search tree.</a:t>
            </a:r>
            <a:br/>
            <a:br/>
            <a:r>
              <a:t>• Sort by Enrollment Descending:</a:t>
            </a:r>
            <a:br/>
            <a:r>
              <a:t>  sorted(subjects, key=lambda s: len(students[s.id]), reverse=True)</a:t>
            </a:r>
            <a:br/>
            <a:br/>
            <a:r>
              <a:t>• Why It Works:</a:t>
            </a:r>
            <a:br/>
            <a:r>
              <a:t>  Large cohorts (e.g. 80 students) have very few eligible halls and conflict with the most students. By placing them first, small electives easily slip into the remaining timeslots without forcing backtracking.</a:t>
            </a:r>
          </a:p>
        </p:txBody>
      </p:sp>
      <p:sp>
        <p:nvSpPr>
          <p:cNvPr id="7" name="Rounded Rectangle 6"/>
          <p:cNvSpPr/>
          <p:nvPr/>
        </p:nvSpPr>
        <p:spPr>
          <a:xfrm>
            <a:off x="62179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389120"/>
          </a:xfrm>
          <a:prstGeom prst="rect">
            <a:avLst/>
          </a:prstGeom>
          <a:noFill/>
        </p:spPr>
        <p:txBody>
          <a:bodyPr wrap="square">
            <a:spAutoFit/>
          </a:bodyPr>
          <a:lstStyle/>
          <a:p>
            <a:pPr>
              <a:spcAft>
                <a:spcPts val="1000"/>
              </a:spcAft>
              <a:defRPr sz="1400" b="1">
                <a:solidFill>
                  <a:srgbClr val="1565C0"/>
                </a:solidFill>
                <a:latin typeface="Segoe UI"/>
              </a:defRPr>
            </a:pPr>
            <a:r>
              <a:t>🔄 Timetable Generation Pipeline</a:t>
            </a:r>
          </a:p>
          <a:p>
            <a:pPr>
              <a:lnSpc>
                <a:spcPct val="125000"/>
              </a:lnSpc>
              <a:defRPr sz="1050">
                <a:solidFill>
                  <a:srgbClr val="334155"/>
                </a:solidFill>
                <a:latin typeface="Segoe UI"/>
              </a:defRPr>
            </a:pPr>
            <a:r>
              <a:t>1. Filter Active Resources:</a:t>
            </a:r>
            <a:br/>
            <a:r>
              <a:t>   Isolate timeslots and faculty where is_available == True.</a:t>
            </a:r>
            <a:br/>
            <a:br/>
            <a:r>
              <a:t>2. Slot-by-Slot Collision Audit:</a:t>
            </a:r>
            <a:br/>
            <a:r>
              <a:t>   Check student set overlap: set(A).intersection(set(B)) == 0.</a:t>
            </a:r>
            <a:br/>
            <a:br/>
            <a:r>
              <a:t>3. Faculty Matching:</a:t>
            </a:r>
            <a:br/>
            <a:r>
              <a:t>   Identify available, unbooked invigilators for the slot.</a:t>
            </a:r>
            <a:br/>
            <a:br/>
            <a:r>
              <a:t>4. Best-Fit Room Allocation:</a:t>
            </a:r>
            <a:br/>
            <a:r>
              <a:t>   Match the tightest capacity hall to prevent seat waste.</a:t>
            </a:r>
            <a:br/>
            <a:br/>
            <a:r>
              <a:t>5. Defensive Validator Verification:</a:t>
            </a:r>
            <a:br/>
            <a:r>
              <a:t>   Candidate exam is fully verified before committing to database.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CAPACITY OPTIMIZATION</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Best-Fit Room Allocation (Bin Packing Problem)</a:t>
            </a:r>
          </a:p>
        </p:txBody>
      </p:sp>
      <p:sp>
        <p:nvSpPr>
          <p:cNvPr id="5" name="Rounded Rectangle 4"/>
          <p:cNvSpPr/>
          <p:nvPr/>
        </p:nvSpPr>
        <p:spPr>
          <a:xfrm>
            <a:off x="7315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389120"/>
          </a:xfrm>
          <a:prstGeom prst="rect">
            <a:avLst/>
          </a:prstGeom>
          <a:noFill/>
        </p:spPr>
        <p:txBody>
          <a:bodyPr wrap="square">
            <a:spAutoFit/>
          </a:bodyPr>
          <a:lstStyle/>
          <a:p>
            <a:pPr>
              <a:spcAft>
                <a:spcPts val="1000"/>
              </a:spcAft>
              <a:defRPr sz="1400" b="1">
                <a:solidFill>
                  <a:srgbClr val="1565C0"/>
                </a:solidFill>
                <a:latin typeface="Segoe UI"/>
              </a:defRPr>
            </a:pPr>
            <a:r>
              <a:t>📦 The Bin Packing Challenge</a:t>
            </a:r>
          </a:p>
          <a:p>
            <a:pPr>
              <a:lnSpc>
                <a:spcPct val="130000"/>
              </a:lnSpc>
              <a:defRPr sz="1100">
                <a:solidFill>
                  <a:srgbClr val="334155"/>
                </a:solidFill>
                <a:latin typeface="Segoe UI"/>
              </a:defRPr>
            </a:pPr>
            <a:r>
              <a:t>• First-Fit Flaw:</a:t>
            </a:r>
            <a:br/>
            <a:r>
              <a:t>  First-Fit assigns the first room where Capacity &gt;= Students. If a 15-student class runs first, it might grab the 120-seat Auditorium, leaving a 70-student class stranded later.</a:t>
            </a:r>
            <a:br/>
            <a:br/>
            <a:r>
              <a:t>• The 'Goldilocks' Principle (Best-Fit):</a:t>
            </a:r>
            <a:br/>
            <a:r>
              <a:t>  Picks the smallest room that comfortably fits the cohort:</a:t>
            </a:r>
            <a:br/>
            <a:r>
              <a:t>  min(capacity(r) - student_count) for all r in AvailableRooms.</a:t>
            </a:r>
            <a:br/>
            <a:br/>
            <a:r>
              <a:t>• Benefits:</a:t>
            </a:r>
            <a:br/>
            <a:r>
              <a:t>  Eliminates hall capacity fragmentation and preserves large venues for large cohorts.</a:t>
            </a:r>
          </a:p>
        </p:txBody>
      </p:sp>
      <p:sp>
        <p:nvSpPr>
          <p:cNvPr id="7" name="Rounded Rectangle 6"/>
          <p:cNvSpPr/>
          <p:nvPr/>
        </p:nvSpPr>
        <p:spPr>
          <a:xfrm>
            <a:off x="62179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389120"/>
          </a:xfrm>
          <a:prstGeom prst="rect">
            <a:avLst/>
          </a:prstGeom>
          <a:noFill/>
        </p:spPr>
        <p:txBody>
          <a:bodyPr wrap="square">
            <a:spAutoFit/>
          </a:bodyPr>
          <a:lstStyle/>
          <a:p>
            <a:pPr>
              <a:spcAft>
                <a:spcPts val="1000"/>
              </a:spcAft>
              <a:defRPr sz="1400" b="1">
                <a:solidFill>
                  <a:srgbClr val="1565C0"/>
                </a:solidFill>
                <a:latin typeface="Segoe UI"/>
              </a:defRPr>
            </a:pPr>
            <a:r>
              <a:t>💻 Algorithm Implementation</a:t>
            </a:r>
          </a:p>
          <a:p>
            <a:pPr>
              <a:lnSpc>
                <a:spcPct val="120000"/>
              </a:lnSpc>
              <a:defRPr sz="950">
                <a:solidFill>
                  <a:srgbClr val="0F172A"/>
                </a:solidFill>
                <a:latin typeface="Consolas"/>
              </a:defRPr>
            </a:pPr>
            <a:r>
              <a:t>def allocate_best_fit_room(student_count, slot_id, rooms, schedule):</a:t>
            </a:r>
            <a:br/>
            <a:r>
              <a:t>    # 1. Unbooked rooms in slot</a:t>
            </a:r>
            <a:br/>
            <a:r>
              <a:t>    available = get_available_rooms_for_slot(slot_id, rooms, schedule)</a:t>
            </a:r>
            <a:br/>
            <a:br/>
            <a:r>
              <a:t>    # 2. Filter sufficient capacity</a:t>
            </a:r>
            <a:br/>
            <a:r>
              <a:t>    suitable = [r for r in available if r.capacity &gt;= student_count]</a:t>
            </a:r>
            <a:br/>
            <a:r>
              <a:t>    if not suitable:</a:t>
            </a:r>
            <a:br/>
            <a:r>
              <a:t>        return None, 'CAPACITY_EXCEEDED'</a:t>
            </a:r>
            <a:br/>
            <a:br/>
            <a:r>
              <a:t>    # 3. Best-Fit: Sort ascending by capacity</a:t>
            </a:r>
            <a:br/>
            <a:r>
              <a:t>    suitable.sort(key=lambda r: (r.capacity, r.name))</a:t>
            </a:r>
            <a:br/>
            <a:r>
              <a:t>    return suitable[0], 'OK'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PRESENTATION LAYER</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User Interface Design: Modern Studio &amp; Classic UI</a:t>
            </a:r>
          </a:p>
        </p:txBody>
      </p:sp>
      <p:sp>
        <p:nvSpPr>
          <p:cNvPr id="5" name="Rounded Rectangle 4"/>
          <p:cNvSpPr/>
          <p:nvPr/>
        </p:nvSpPr>
        <p:spPr>
          <a:xfrm>
            <a:off x="7315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4846320" cy="4389120"/>
          </a:xfrm>
          <a:prstGeom prst="rect">
            <a:avLst/>
          </a:prstGeom>
          <a:noFill/>
        </p:spPr>
        <p:txBody>
          <a:bodyPr wrap="square">
            <a:spAutoFit/>
          </a:bodyPr>
          <a:lstStyle/>
          <a:p>
            <a:pPr>
              <a:spcAft>
                <a:spcPts val="1000"/>
              </a:spcAft>
              <a:defRPr sz="1300" b="1">
                <a:solidFill>
                  <a:srgbClr val="1565C0"/>
                </a:solidFill>
                <a:latin typeface="Segoe UI"/>
              </a:defRPr>
            </a:pPr>
            <a:r>
              <a:t>🎨 Modern Minimalist Studio (gui/modern_app.py)</a:t>
            </a:r>
          </a:p>
          <a:p>
            <a:pPr>
              <a:lnSpc>
                <a:spcPct val="125000"/>
              </a:lnSpc>
              <a:defRPr sz="1050">
                <a:solidFill>
                  <a:srgbClr val="334155"/>
                </a:solidFill>
                <a:latin typeface="Segoe UI"/>
              </a:defRPr>
            </a:pPr>
            <a:r>
              <a:t>• Obsidian Dark Palette:</a:t>
            </a:r>
            <a:br/>
            <a:r>
              <a:t>  Engineered with deep obsidian (#0B0F19) and slate surfaces (#0F172A) with electric indigo accents (#6366F1).</a:t>
            </a:r>
            <a:br/>
            <a:br/>
            <a:r>
              <a:t>• Responsive Sidebar Navigation:</a:t>
            </a:r>
            <a:br/>
            <a:r>
              <a:t>  Clean left sidebar with active indicator strips, replacing traditional top tabs.</a:t>
            </a:r>
            <a:br/>
            <a:br/>
            <a:r>
              <a:t>• Live Status Header:</a:t>
            </a:r>
            <a:br/>
            <a:r>
              <a:t>  Features glowing status metrics and instant one-click actions (Generate, Validate, Export CSV).</a:t>
            </a:r>
            <a:br/>
            <a:br/>
            <a:r>
              <a:t>• High-Contrast Typography:</a:t>
            </a:r>
            <a:br/>
            <a:r>
              <a:t>  Spacious Segoe UI fonts and modern TTK styling.</a:t>
            </a:r>
          </a:p>
        </p:txBody>
      </p:sp>
      <p:sp>
        <p:nvSpPr>
          <p:cNvPr id="7" name="Rounded Rectangle 6"/>
          <p:cNvSpPr/>
          <p:nvPr/>
        </p:nvSpPr>
        <p:spPr>
          <a:xfrm>
            <a:off x="6217920" y="137160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4389120"/>
          </a:xfrm>
          <a:prstGeom prst="rect">
            <a:avLst/>
          </a:prstGeom>
          <a:noFill/>
        </p:spPr>
        <p:txBody>
          <a:bodyPr wrap="square">
            <a:spAutoFit/>
          </a:bodyPr>
          <a:lstStyle/>
          <a:p>
            <a:pPr>
              <a:spcAft>
                <a:spcPts val="1000"/>
              </a:spcAft>
              <a:defRPr sz="1300" b="1">
                <a:solidFill>
                  <a:srgbClr val="1565C0"/>
                </a:solidFill>
                <a:latin typeface="Segoe UI"/>
              </a:defRPr>
            </a:pPr>
            <a:r>
              <a:t>🖥️ Features &amp; Entity Management</a:t>
            </a:r>
          </a:p>
          <a:p>
            <a:pPr>
              <a:lnSpc>
                <a:spcPct val="125000"/>
              </a:lnSpc>
              <a:defRPr sz="1050">
                <a:solidFill>
                  <a:srgbClr val="334155"/>
                </a:solidFill>
                <a:latin typeface="Segoe UI"/>
              </a:defRPr>
            </a:pPr>
            <a:r>
              <a:t>• Classic University Theme (gui/app.py):</a:t>
            </a:r>
            <a:br/>
            <a:r>
              <a:t>  Original institutional navy banner with notebook tabs for traditional environments.</a:t>
            </a:r>
            <a:br/>
            <a:br/>
            <a:r>
              <a:t>• Full CRUD Dialogues:</a:t>
            </a:r>
            <a:br/>
            <a:r>
              <a:t>  Dedicated views for Students, Subjects, Faculty, Rooms, and TimeSlots with search filtering.</a:t>
            </a:r>
            <a:br/>
            <a:br/>
            <a:r>
              <a:t>• Live Diagnostics Tab:</a:t>
            </a:r>
            <a:br/>
            <a:r>
              <a:t>  Verification view executing the 5 review scenarios interactively with visual pass/fail badges.</a:t>
            </a:r>
            <a:br/>
            <a:br/>
            <a:r>
              <a:t>• CSV Exporter:</a:t>
            </a:r>
            <a:br/>
            <a:r>
              <a:t>  Generates administrative reports with complete exam metadata.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ACADEMIC CHECKPOINTS</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Milestone 6 Review Scenarios &amp; Test Suite</a:t>
            </a:r>
          </a:p>
        </p:txBody>
      </p:sp>
      <p:graphicFrame>
        <p:nvGraphicFramePr>
          <p:cNvPr id="5" name="Table 4"/>
          <p:cNvGraphicFramePr>
            <a:graphicFrameLocks noGrp="1"/>
          </p:cNvGraphicFramePr>
          <p:nvPr/>
        </p:nvGraphicFramePr>
        <p:xfrm>
          <a:off x="731520" y="1371600"/>
          <a:ext cx="10728655" cy="3474720"/>
        </p:xfrm>
        <a:graphic>
          <a:graphicData uri="http://schemas.openxmlformats.org/drawingml/2006/table">
            <a:tbl>
              <a:tblPr firstRow="1" bandRow="1">
                <a:tableStyleId>{5C22544A-7EE6-4342-B048-85BDC9FD1C3A}</a:tableStyleId>
              </a:tblPr>
              <a:tblGrid>
                <a:gridCol w="1371600"/>
                <a:gridCol w="4114800"/>
                <a:gridCol w="3931920"/>
                <a:gridCol w="1310335"/>
              </a:tblGrid>
              <a:tr h="579120">
                <a:tc>
                  <a:txBody>
                    <a:bodyPr/>
                    <a:lstStyle/>
                    <a:p>
                      <a:pPr>
                        <a:defRPr sz="1050" b="1">
                          <a:solidFill>
                            <a:srgbClr val="FFFFFF"/>
                          </a:solidFill>
                          <a:latin typeface="Segoe UI"/>
                        </a:defRPr>
                      </a:pPr>
                      <a:r>
                        <a:t>Scenario</a:t>
                      </a:r>
                    </a:p>
                  </a:txBody>
                  <a:tcPr>
                    <a:solidFill>
                      <a:srgbClr val="0D47A1"/>
                    </a:solidFill>
                  </a:tcPr>
                </a:tc>
                <a:tc>
                  <a:txBody>
                    <a:bodyPr/>
                    <a:lstStyle/>
                    <a:p>
                      <a:pPr>
                        <a:defRPr sz="1050" b="1">
                          <a:solidFill>
                            <a:srgbClr val="FFFFFF"/>
                          </a:solidFill>
                          <a:latin typeface="Segoe UI"/>
                        </a:defRPr>
                      </a:pPr>
                      <a:r>
                        <a:t>Condition Tested</a:t>
                      </a:r>
                    </a:p>
                  </a:txBody>
                  <a:tcPr>
                    <a:solidFill>
                      <a:srgbClr val="0D47A1"/>
                    </a:solidFill>
                  </a:tcPr>
                </a:tc>
                <a:tc>
                  <a:txBody>
                    <a:bodyPr/>
                    <a:lstStyle/>
                    <a:p>
                      <a:pPr>
                        <a:defRPr sz="1050" b="1">
                          <a:solidFill>
                            <a:srgbClr val="FFFFFF"/>
                          </a:solidFill>
                          <a:latin typeface="Segoe UI"/>
                        </a:defRPr>
                      </a:pPr>
                      <a:r>
                        <a:t>Expected Output / Status</a:t>
                      </a:r>
                    </a:p>
                  </a:txBody>
                  <a:tcPr>
                    <a:solidFill>
                      <a:srgbClr val="0D47A1"/>
                    </a:solidFill>
                  </a:tcPr>
                </a:tc>
                <a:tc>
                  <a:txBody>
                    <a:bodyPr/>
                    <a:lstStyle/>
                    <a:p>
                      <a:pPr>
                        <a:defRPr sz="1050" b="1">
                          <a:solidFill>
                            <a:srgbClr val="FFFFFF"/>
                          </a:solidFill>
                          <a:latin typeface="Segoe UI"/>
                        </a:defRPr>
                      </a:pPr>
                      <a:r>
                        <a:t>Status</a:t>
                      </a:r>
                    </a:p>
                  </a:txBody>
                  <a:tcPr>
                    <a:solidFill>
                      <a:srgbClr val="0D47A1"/>
                    </a:solidFill>
                  </a:tcPr>
                </a:tc>
              </a:tr>
              <a:tr h="579120">
                <a:tc>
                  <a:txBody>
                    <a:bodyPr/>
                    <a:lstStyle/>
                    <a:p>
                      <a:pPr>
                        <a:defRPr sz="950">
                          <a:solidFill>
                            <a:srgbClr val="334155"/>
                          </a:solidFill>
                          <a:latin typeface="Segoe UI"/>
                        </a:defRPr>
                      </a:pPr>
                      <a:r>
                        <a:t>Test 1</a:t>
                      </a:r>
                    </a:p>
                  </a:txBody>
                  <a:tcPr>
                    <a:solidFill>
                      <a:srgbClr val="F1F5F9"/>
                    </a:solidFill>
                  </a:tcPr>
                </a:tc>
                <a:tc>
                  <a:txBody>
                    <a:bodyPr/>
                    <a:lstStyle/>
                    <a:p>
                      <a:pPr>
                        <a:defRPr sz="950">
                          <a:solidFill>
                            <a:srgbClr val="334155"/>
                          </a:solidFill>
                          <a:latin typeface="Segoe UI"/>
                        </a:defRPr>
                      </a:pPr>
                      <a:r>
                        <a:t>Standard SRM Sample Dataset (CSE, IT, ECE)</a:t>
                      </a:r>
                    </a:p>
                  </a:txBody>
                  <a:tcPr>
                    <a:solidFill>
                      <a:srgbClr val="F1F5F9"/>
                    </a:solidFill>
                  </a:tcPr>
                </a:tc>
                <a:tc>
                  <a:txBody>
                    <a:bodyPr/>
                    <a:lstStyle/>
                    <a:p>
                      <a:pPr>
                        <a:defRPr sz="950">
                          <a:solidFill>
                            <a:srgbClr val="334155"/>
                          </a:solidFill>
                          <a:latin typeface="Segoe UI"/>
                        </a:defRPr>
                      </a:pPr>
                      <a:r>
                        <a:t>Conflict-free timetable generated for all subjects (VALID)</a:t>
                      </a:r>
                    </a:p>
                  </a:txBody>
                  <a:tcPr>
                    <a:solidFill>
                      <a:srgbClr val="F1F5F9"/>
                    </a:solidFill>
                  </a:tcPr>
                </a:tc>
                <a:tc>
                  <a:txBody>
                    <a:bodyPr/>
                    <a:lstStyle/>
                    <a:p>
                      <a:pPr algn="ctr">
                        <a:defRPr sz="950" b="1">
                          <a:solidFill>
                            <a:srgbClr val="10B981"/>
                          </a:solidFill>
                          <a:latin typeface="Segoe UI"/>
                        </a:defRPr>
                      </a:pPr>
                      <a:r>
                        <a:t>PASS</a:t>
                      </a:r>
                    </a:p>
                  </a:txBody>
                  <a:tcPr>
                    <a:solidFill>
                      <a:srgbClr val="F1F5F9"/>
                    </a:solidFill>
                  </a:tcPr>
                </a:tc>
              </a:tr>
              <a:tr h="579120">
                <a:tc>
                  <a:txBody>
                    <a:bodyPr/>
                    <a:lstStyle/>
                    <a:p>
                      <a:pPr>
                        <a:defRPr sz="950">
                          <a:solidFill>
                            <a:srgbClr val="334155"/>
                          </a:solidFill>
                          <a:latin typeface="Segoe UI"/>
                        </a:defRPr>
                      </a:pPr>
                      <a:r>
                        <a:t>Test 2</a:t>
                      </a:r>
                    </a:p>
                  </a:txBody>
                  <a:tcPr>
                    <a:solidFill>
                      <a:srgbClr val="FFFFFF"/>
                    </a:solidFill>
                  </a:tcPr>
                </a:tc>
                <a:tc>
                  <a:txBody>
                    <a:bodyPr/>
                    <a:lstStyle/>
                    <a:p>
                      <a:pPr>
                        <a:defRPr sz="950">
                          <a:solidFill>
                            <a:srgbClr val="334155"/>
                          </a:solidFill>
                          <a:latin typeface="Segoe UI"/>
                        </a:defRPr>
                      </a:pPr>
                      <a:r>
                        <a:t>Two exams with shared students in same slot</a:t>
                      </a:r>
                    </a:p>
                  </a:txBody>
                  <a:tcPr>
                    <a:solidFill>
                      <a:srgbClr val="FFFFFF"/>
                    </a:solidFill>
                  </a:tcPr>
                </a:tc>
                <a:tc>
                  <a:txBody>
                    <a:bodyPr/>
                    <a:lstStyle/>
                    <a:p>
                      <a:pPr>
                        <a:defRPr sz="950">
                          <a:solidFill>
                            <a:srgbClr val="334155"/>
                          </a:solidFill>
                          <a:latin typeface="Segoe UI"/>
                        </a:defRPr>
                      </a:pPr>
                      <a:r>
                        <a:t>Assignment rejected: CONFLICT (Student clash detected)</a:t>
                      </a:r>
                    </a:p>
                  </a:txBody>
                  <a:tcPr>
                    <a:solidFill>
                      <a:srgbClr val="FFFFFF"/>
                    </a:solidFill>
                  </a:tcPr>
                </a:tc>
                <a:tc>
                  <a:txBody>
                    <a:bodyPr/>
                    <a:lstStyle/>
                    <a:p>
                      <a:pPr algn="ctr">
                        <a:defRPr sz="950" b="1">
                          <a:solidFill>
                            <a:srgbClr val="10B981"/>
                          </a:solidFill>
                          <a:latin typeface="Segoe UI"/>
                        </a:defRPr>
                      </a:pPr>
                      <a:r>
                        <a:t>PASS</a:t>
                      </a:r>
                    </a:p>
                  </a:txBody>
                  <a:tcPr>
                    <a:solidFill>
                      <a:srgbClr val="FFFFFF"/>
                    </a:solidFill>
                  </a:tcPr>
                </a:tc>
              </a:tr>
              <a:tr h="579120">
                <a:tc>
                  <a:txBody>
                    <a:bodyPr/>
                    <a:lstStyle/>
                    <a:p>
                      <a:pPr>
                        <a:defRPr sz="950">
                          <a:solidFill>
                            <a:srgbClr val="334155"/>
                          </a:solidFill>
                          <a:latin typeface="Segoe UI"/>
                        </a:defRPr>
                      </a:pPr>
                      <a:r>
                        <a:t>Test 3</a:t>
                      </a:r>
                    </a:p>
                  </a:txBody>
                  <a:tcPr>
                    <a:solidFill>
                      <a:srgbClr val="F1F5F9"/>
                    </a:solidFill>
                  </a:tcPr>
                </a:tc>
                <a:tc>
                  <a:txBody>
                    <a:bodyPr/>
                    <a:lstStyle/>
                    <a:p>
                      <a:pPr>
                        <a:defRPr sz="950">
                          <a:solidFill>
                            <a:srgbClr val="334155"/>
                          </a:solidFill>
                          <a:latin typeface="Segoe UI"/>
                        </a:defRPr>
                      </a:pPr>
                      <a:r>
                        <a:t>54 students placed into a 30-seat classroom</a:t>
                      </a:r>
                    </a:p>
                  </a:txBody>
                  <a:tcPr>
                    <a:solidFill>
                      <a:srgbClr val="F1F5F9"/>
                    </a:solidFill>
                  </a:tcPr>
                </a:tc>
                <a:tc>
                  <a:txBody>
                    <a:bodyPr/>
                    <a:lstStyle/>
                    <a:p>
                      <a:pPr>
                        <a:defRPr sz="950">
                          <a:solidFill>
                            <a:srgbClr val="334155"/>
                          </a:solidFill>
                          <a:latin typeface="Segoe UI"/>
                        </a:defRPr>
                      </a:pPr>
                      <a:r>
                        <a:t>Assignment rejected: CAPACITY_EXCEEDED (Deficit flagged)</a:t>
                      </a:r>
                    </a:p>
                  </a:txBody>
                  <a:tcPr>
                    <a:solidFill>
                      <a:srgbClr val="F1F5F9"/>
                    </a:solidFill>
                  </a:tcPr>
                </a:tc>
                <a:tc>
                  <a:txBody>
                    <a:bodyPr/>
                    <a:lstStyle/>
                    <a:p>
                      <a:pPr algn="ctr">
                        <a:defRPr sz="950" b="1">
                          <a:solidFill>
                            <a:srgbClr val="10B981"/>
                          </a:solidFill>
                          <a:latin typeface="Segoe UI"/>
                        </a:defRPr>
                      </a:pPr>
                      <a:r>
                        <a:t>PASS</a:t>
                      </a:r>
                    </a:p>
                  </a:txBody>
                  <a:tcPr>
                    <a:solidFill>
                      <a:srgbClr val="F1F5F9"/>
                    </a:solidFill>
                  </a:tcPr>
                </a:tc>
              </a:tr>
              <a:tr h="579120">
                <a:tc>
                  <a:txBody>
                    <a:bodyPr/>
                    <a:lstStyle/>
                    <a:p>
                      <a:pPr>
                        <a:defRPr sz="950">
                          <a:solidFill>
                            <a:srgbClr val="334155"/>
                          </a:solidFill>
                          <a:latin typeface="Segoe UI"/>
                        </a:defRPr>
                      </a:pPr>
                      <a:r>
                        <a:t>Test 4</a:t>
                      </a:r>
                    </a:p>
                  </a:txBody>
                  <a:tcPr>
                    <a:solidFill>
                      <a:srgbClr val="FFFFFF"/>
                    </a:solidFill>
                  </a:tcPr>
                </a:tc>
                <a:tc>
                  <a:txBody>
                    <a:bodyPr/>
                    <a:lstStyle/>
                    <a:p>
                      <a:pPr>
                        <a:defRPr sz="950">
                          <a:solidFill>
                            <a:srgbClr val="334155"/>
                          </a:solidFill>
                          <a:latin typeface="Segoe UI"/>
                        </a:defRPr>
                      </a:pPr>
                      <a:r>
                        <a:t>Two exams booked in same room during same slot</a:t>
                      </a:r>
                    </a:p>
                  </a:txBody>
                  <a:tcPr>
                    <a:solidFill>
                      <a:srgbClr val="FFFFFF"/>
                    </a:solidFill>
                  </a:tcPr>
                </a:tc>
                <a:tc>
                  <a:txBody>
                    <a:bodyPr/>
                    <a:lstStyle/>
                    <a:p>
                      <a:pPr>
                        <a:defRPr sz="950">
                          <a:solidFill>
                            <a:srgbClr val="334155"/>
                          </a:solidFill>
                          <a:latin typeface="Segoe UI"/>
                        </a:defRPr>
                      </a:pPr>
                      <a:r>
                        <a:t>Assignment rejected: DUPLICATE_BOOKING (Room double-booking)</a:t>
                      </a:r>
                    </a:p>
                  </a:txBody>
                  <a:tcPr>
                    <a:solidFill>
                      <a:srgbClr val="FFFFFF"/>
                    </a:solidFill>
                  </a:tcPr>
                </a:tc>
                <a:tc>
                  <a:txBody>
                    <a:bodyPr/>
                    <a:lstStyle/>
                    <a:p>
                      <a:pPr algn="ctr">
                        <a:defRPr sz="950" b="1">
                          <a:solidFill>
                            <a:srgbClr val="10B981"/>
                          </a:solidFill>
                          <a:latin typeface="Segoe UI"/>
                        </a:defRPr>
                      </a:pPr>
                      <a:r>
                        <a:t>PASS</a:t>
                      </a:r>
                    </a:p>
                  </a:txBody>
                  <a:tcPr>
                    <a:solidFill>
                      <a:srgbClr val="FFFFFF"/>
                    </a:solidFill>
                  </a:tcPr>
                </a:tc>
              </a:tr>
              <a:tr h="579120">
                <a:tc>
                  <a:txBody>
                    <a:bodyPr/>
                    <a:lstStyle/>
                    <a:p>
                      <a:pPr>
                        <a:defRPr sz="950">
                          <a:solidFill>
                            <a:srgbClr val="334155"/>
                          </a:solidFill>
                          <a:latin typeface="Segoe UI"/>
                        </a:defRPr>
                      </a:pPr>
                      <a:r>
                        <a:t>Test 5</a:t>
                      </a:r>
                    </a:p>
                  </a:txBody>
                  <a:tcPr>
                    <a:solidFill>
                      <a:srgbClr val="F1F5F9"/>
                    </a:solidFill>
                  </a:tcPr>
                </a:tc>
                <a:tc>
                  <a:txBody>
                    <a:bodyPr/>
                    <a:lstStyle/>
                    <a:p>
                      <a:pPr>
                        <a:defRPr sz="950">
                          <a:solidFill>
                            <a:srgbClr val="334155"/>
                          </a:solidFill>
                          <a:latin typeface="Segoe UI"/>
                        </a:defRPr>
                      </a:pPr>
                      <a:r>
                        <a:t>Exam assigned to room under repair or faculty on leave</a:t>
                      </a:r>
                    </a:p>
                  </a:txBody>
                  <a:tcPr>
                    <a:solidFill>
                      <a:srgbClr val="F1F5F9"/>
                    </a:solidFill>
                  </a:tcPr>
                </a:tc>
                <a:tc>
                  <a:txBody>
                    <a:bodyPr/>
                    <a:lstStyle/>
                    <a:p>
                      <a:pPr>
                        <a:defRPr sz="950">
                          <a:solidFill>
                            <a:srgbClr val="334155"/>
                          </a:solidFill>
                          <a:latin typeface="Segoe UI"/>
                        </a:defRPr>
                      </a:pPr>
                      <a:r>
                        <a:t>Assignment rejected: ROOM_UNAVAILABLE / FACULTY_UNAVAILABLE</a:t>
                      </a:r>
                    </a:p>
                  </a:txBody>
                  <a:tcPr>
                    <a:solidFill>
                      <a:srgbClr val="F1F5F9"/>
                    </a:solidFill>
                  </a:tcPr>
                </a:tc>
                <a:tc>
                  <a:txBody>
                    <a:bodyPr/>
                    <a:lstStyle/>
                    <a:p>
                      <a:pPr algn="ctr">
                        <a:defRPr sz="950" b="1">
                          <a:solidFill>
                            <a:srgbClr val="10B981"/>
                          </a:solidFill>
                          <a:latin typeface="Segoe UI"/>
                        </a:defRPr>
                      </a:pPr>
                      <a:r>
                        <a:t>PASS</a:t>
                      </a:r>
                    </a:p>
                  </a:txBody>
                  <a:tcPr>
                    <a:solidFill>
                      <a:srgbClr val="F1F5F9"/>
                    </a:solidFill>
                  </a:tcPr>
                </a:tc>
              </a:tr>
            </a:tbl>
          </a:graphicData>
        </a:graphic>
      </p:graphicFrame>
      <p:sp>
        <p:nvSpPr>
          <p:cNvPr id="6" name="Rounded Rectangle 5"/>
          <p:cNvSpPr/>
          <p:nvPr/>
        </p:nvSpPr>
        <p:spPr>
          <a:xfrm>
            <a:off x="731520" y="5120640"/>
            <a:ext cx="10728655" cy="10058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212080"/>
            <a:ext cx="10332720" cy="822960"/>
          </a:xfrm>
          <a:prstGeom prst="rect">
            <a:avLst/>
          </a:prstGeom>
          <a:noFill/>
        </p:spPr>
        <p:txBody>
          <a:bodyPr wrap="none">
            <a:spAutoFit/>
          </a:bodyPr>
          <a:lstStyle/>
          <a:p>
            <a:pPr>
              <a:defRPr sz="1200" b="1">
                <a:solidFill>
                  <a:srgbClr val="1565C0"/>
                </a:solidFill>
                <a:latin typeface="Segoe UI"/>
              </a:defRPr>
            </a:pPr>
            <a:r>
              <a:t>🧪 Complete Verification Suite: 24 Automated Unit Tests Passing (0.010s Execution Time)</a:t>
            </a:r>
          </a:p>
          <a:p>
            <a:pPr>
              <a:defRPr sz="1000">
                <a:solidFill>
                  <a:srgbClr val="334155"/>
                </a:solidFill>
                <a:latin typeface="Segoe UI"/>
              </a:defRPr>
            </a:pPr>
            <a:r>
              <a:t>Includes 6 CRUD tests (test_crud.py), 8 validator tests (test_validator.py), 5 scheduler tests (test_scheduler.py), and 5 scenario tests (test_scenarios.py). Uses in-memory SQLite (:memory:) for isolated, clean execution.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698480" cy="320040"/>
          </a:xfrm>
          <a:prstGeom prst="rect">
            <a:avLst/>
          </a:prstGeom>
          <a:noFill/>
        </p:spPr>
        <p:txBody>
          <a:bodyPr wrap="square" lIns="0" tIns="0" rIns="0" bIns="0">
            <a:spAutoFit/>
          </a:bodyPr>
          <a:lstStyle/>
          <a:p>
            <a:pPr>
              <a:defRPr sz="1000" b="1">
                <a:solidFill>
                  <a:srgbClr val="1565C0"/>
                </a:solidFill>
                <a:latin typeface="Segoe UI"/>
              </a:defRPr>
            </a:pPr>
            <a:r>
              <a:t>100% IMPLEMENTATION</a:t>
            </a:r>
          </a:p>
        </p:txBody>
      </p:sp>
      <p:sp>
        <p:nvSpPr>
          <p:cNvPr id="4" name="TextBox 3"/>
          <p:cNvSpPr txBox="1"/>
          <p:nvPr/>
        </p:nvSpPr>
        <p:spPr>
          <a:xfrm>
            <a:off x="731520" y="594360"/>
            <a:ext cx="10698480" cy="594360"/>
          </a:xfrm>
          <a:prstGeom prst="rect">
            <a:avLst/>
          </a:prstGeom>
          <a:noFill/>
        </p:spPr>
        <p:txBody>
          <a:bodyPr wrap="square" lIns="0" tIns="0" rIns="0" bIns="0">
            <a:spAutoFit/>
          </a:bodyPr>
          <a:lstStyle/>
          <a:p>
            <a:pPr>
              <a:defRPr sz="2200" b="1">
                <a:solidFill>
                  <a:srgbClr val="0F172A"/>
                </a:solidFill>
                <a:latin typeface="Segoe UI"/>
              </a:defRPr>
            </a:pPr>
            <a:r>
              <a:t>Advanced Capstone Modules (Milestones 7–12 Realized)</a:t>
            </a:r>
          </a:p>
        </p:txBody>
      </p:sp>
      <p:sp>
        <p:nvSpPr>
          <p:cNvPr id="5" name="Rounded Rectangle 4"/>
          <p:cNvSpPr/>
          <p:nvPr/>
        </p:nvSpPr>
        <p:spPr>
          <a:xfrm>
            <a:off x="731520" y="137160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463040"/>
            <a:ext cx="10332720" cy="685800"/>
          </a:xfrm>
          <a:prstGeom prst="rect">
            <a:avLst/>
          </a:prstGeom>
          <a:noFill/>
        </p:spPr>
        <p:txBody>
          <a:bodyPr wrap="square">
            <a:spAutoFit/>
          </a:bodyPr>
          <a:lstStyle/>
          <a:p>
            <a:pPr>
              <a:defRPr sz="1200" b="1">
                <a:solidFill>
                  <a:srgbClr val="1565C0"/>
                </a:solidFill>
                <a:latin typeface="Segoe UI"/>
              </a:defRPr>
            </a:pPr>
            <a:r>
              <a:t>Milestone 7: Distributed TCP Socket Server</a:t>
            </a:r>
          </a:p>
          <a:p>
            <a:pPr>
              <a:defRPr sz="1000">
                <a:solidFill>
                  <a:srgbClr val="334155"/>
                </a:solidFill>
                <a:latin typeface="Segoe UI"/>
              </a:defRPr>
            </a:pPr>
            <a:r>
              <a:t>Standalone daemon (exam_server.py) with length-prefixed JSON RPC framing and concurrent multi-client handling.</a:t>
            </a:r>
          </a:p>
        </p:txBody>
      </p:sp>
      <p:sp>
        <p:nvSpPr>
          <p:cNvPr id="7" name="Rounded Rectangle 6"/>
          <p:cNvSpPr/>
          <p:nvPr/>
        </p:nvSpPr>
        <p:spPr>
          <a:xfrm>
            <a:off x="731520" y="233172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23160"/>
            <a:ext cx="10332720" cy="685800"/>
          </a:xfrm>
          <a:prstGeom prst="rect">
            <a:avLst/>
          </a:prstGeom>
          <a:noFill/>
        </p:spPr>
        <p:txBody>
          <a:bodyPr wrap="square">
            <a:spAutoFit/>
          </a:bodyPr>
          <a:lstStyle/>
          <a:p>
            <a:pPr>
              <a:defRPr sz="1200" b="1">
                <a:solidFill>
                  <a:srgbClr val="1565C0"/>
                </a:solidFill>
                <a:latin typeface="Segoe UI"/>
              </a:defRPr>
            </a:pPr>
            <a:r>
              <a:t>Milestone 8: Functional Programming Pipelines</a:t>
            </a:r>
          </a:p>
          <a:p>
            <a:pPr>
              <a:defRPr sz="1000">
                <a:solidFill>
                  <a:srgbClr val="334155"/>
                </a:solidFill>
                <a:latin typeface="Segoe UI"/>
              </a:defRPr>
            </a:pPr>
            <a:r>
              <a:t>Pure functional evaluation via map(), filter(), functools.reduce() computing soft penalties without side-effects.</a:t>
            </a:r>
          </a:p>
        </p:txBody>
      </p:sp>
      <p:sp>
        <p:nvSpPr>
          <p:cNvPr id="9" name="Rounded Rectangle 8"/>
          <p:cNvSpPr/>
          <p:nvPr/>
        </p:nvSpPr>
        <p:spPr>
          <a:xfrm>
            <a:off x="731520" y="329184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83280"/>
            <a:ext cx="10332720" cy="685800"/>
          </a:xfrm>
          <a:prstGeom prst="rect">
            <a:avLst/>
          </a:prstGeom>
          <a:noFill/>
        </p:spPr>
        <p:txBody>
          <a:bodyPr wrap="square">
            <a:spAutoFit/>
          </a:bodyPr>
          <a:lstStyle/>
          <a:p>
            <a:pPr>
              <a:defRPr sz="1200" b="1">
                <a:solidFill>
                  <a:srgbClr val="1565C0"/>
                </a:solidFill>
                <a:latin typeface="Segoe UI"/>
              </a:defRPr>
            </a:pPr>
            <a:r>
              <a:t>Milestone 9: Multiprocessing Engine (GIL Bypassed)</a:t>
            </a:r>
          </a:p>
          <a:p>
            <a:pPr>
              <a:defRPr sz="1000">
                <a:solidFill>
                  <a:srgbClr val="334155"/>
                </a:solidFill>
                <a:latin typeface="Segoe UI"/>
              </a:defRPr>
            </a:pPr>
            <a:r>
              <a:t>Circumvents CPython's GIL across CPU cores with ProcessPoolExecutor, evaluating candidate schedules in parallel.</a:t>
            </a:r>
          </a:p>
        </p:txBody>
      </p:sp>
      <p:sp>
        <p:nvSpPr>
          <p:cNvPr id="11" name="Rounded Rectangle 10"/>
          <p:cNvSpPr/>
          <p:nvPr/>
        </p:nvSpPr>
        <p:spPr>
          <a:xfrm>
            <a:off x="731520" y="425196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343400"/>
            <a:ext cx="10332720" cy="685800"/>
          </a:xfrm>
          <a:prstGeom prst="rect">
            <a:avLst/>
          </a:prstGeom>
          <a:noFill/>
        </p:spPr>
        <p:txBody>
          <a:bodyPr wrap="square">
            <a:spAutoFit/>
          </a:bodyPr>
          <a:lstStyle/>
          <a:p>
            <a:pPr>
              <a:defRPr sz="1200" b="1">
                <a:solidFill>
                  <a:srgbClr val="1565C0"/>
                </a:solidFill>
                <a:latin typeface="Segoe UI"/>
              </a:defRPr>
            </a:pPr>
            <a:r>
              <a:t>Milestone 10: SymPy Symbolic Mathematical Modeling</a:t>
            </a:r>
          </a:p>
          <a:p>
            <a:pPr>
              <a:defRPr sz="1000">
                <a:solidFill>
                  <a:srgbClr val="334155"/>
                </a:solidFill>
                <a:latin typeface="Segoe UI"/>
              </a:defRPr>
            </a:pPr>
            <a:r>
              <a:t>Formal objective loss Z = w^T P with analytical sensitivity analysis and partial gradient calculation.</a:t>
            </a:r>
          </a:p>
        </p:txBody>
      </p:sp>
      <p:sp>
        <p:nvSpPr>
          <p:cNvPr id="13" name="Rounded Rectangle 12"/>
          <p:cNvSpPr/>
          <p:nvPr/>
        </p:nvSpPr>
        <p:spPr>
          <a:xfrm>
            <a:off x="731520" y="5212080"/>
            <a:ext cx="10728655"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03520"/>
            <a:ext cx="10332720" cy="685800"/>
          </a:xfrm>
          <a:prstGeom prst="rect">
            <a:avLst/>
          </a:prstGeom>
          <a:noFill/>
        </p:spPr>
        <p:txBody>
          <a:bodyPr wrap="square">
            <a:spAutoFit/>
          </a:bodyPr>
          <a:lstStyle/>
          <a:p>
            <a:pPr>
              <a:defRPr sz="1200" b="1">
                <a:solidFill>
                  <a:srgbClr val="1565C0"/>
                </a:solidFill>
                <a:latin typeface="Segoe UI"/>
              </a:defRPr>
            </a:pPr>
            <a:r>
              <a:t>Milestones 11 &amp; 12: Genetic Algorithm &amp; Multi-Format Exports</a:t>
            </a:r>
          </a:p>
          <a:p>
            <a:pPr>
              <a:defRPr sz="1000">
                <a:solidFill>
                  <a:srgbClr val="334155"/>
                </a:solidFill>
                <a:latin typeface="Segoe UI"/>
              </a:defRPr>
            </a:pPr>
            <a:r>
              <a:t>Evolutionary chromosome optimization with elitism, official PDF reports, styled Excel workbooks, and 53 automated unit 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250AF"/>
          </a:solidFill>
          <a:ln>
            <a:solidFill>
              <a:srgbClr val="286ED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645920"/>
            <a:ext cx="8534095" cy="3657600"/>
          </a:xfrm>
          <a:prstGeom prst="rect">
            <a:avLst/>
          </a:prstGeom>
          <a:noFill/>
        </p:spPr>
        <p:txBody>
          <a:bodyPr wrap="square">
            <a:spAutoFit/>
          </a:bodyPr>
          <a:lstStyle/>
          <a:p>
            <a:pPr>
              <a:spcAft>
                <a:spcPts val="1600"/>
              </a:spcAft>
              <a:defRPr sz="2800" b="1">
                <a:solidFill>
                  <a:srgbClr val="FFFFFF"/>
                </a:solidFill>
                <a:latin typeface="Segoe UI"/>
              </a:defRPr>
            </a:pPr>
            <a:r>
              <a:t>ExamOpt Summary &amp; Key Takeaways</a:t>
            </a:r>
          </a:p>
          <a:p>
            <a:pPr>
              <a:lnSpc>
                <a:spcPct val="130000"/>
              </a:lnSpc>
              <a:spcAft>
                <a:spcPts val="1600"/>
              </a:spcAft>
              <a:defRPr sz="1200">
                <a:solidFill>
                  <a:srgbClr val="E3F2FD"/>
                </a:solidFill>
                <a:latin typeface="Segoe UI"/>
              </a:defRPr>
            </a:pPr>
            <a:r>
              <a:t>✓ 100% Production Capstone Target Fully Realized &amp; Mathematically Verified</a:t>
            </a:r>
            <a:br/>
            <a:r>
              <a:t>✓ Clean Tiered Architecture with Facade, DAO, Strategy &amp; Specification Patterns</a:t>
            </a:r>
            <a:br/>
            <a:r>
              <a:t>✓ 100% Conflict-Free Timetable Generation in Sub-100ms Execution</a:t>
            </a:r>
            <a:br/>
            <a:r>
              <a:t>✓ Meta-Heuristic Genetic Algorithm Minimizes Student Stress &amp; Hall Wastage</a:t>
            </a:r>
            <a:br/>
            <a:r>
              <a:t>✓ Multi-Core Parallel Computing (ProcessPoolExecutor) Bypassing the Python GIL</a:t>
            </a:r>
            <a:br/>
            <a:r>
              <a:t>✓ Distributed TCP Socket Daemon &amp; Client Architecture with Length-Prefixed JSON</a:t>
            </a:r>
            <a:br/>
            <a:r>
              <a:t>✓ 53 Automated Unit Tests &amp; 10 Capstone Academic Review Scenarios Verified (100% PASS)</a:t>
            </a:r>
          </a:p>
          <a:p>
            <a:pPr>
              <a:defRPr sz="1600" b="1">
                <a:solidFill>
                  <a:srgbClr val="BBDEFB"/>
                </a:solidFill>
                <a:latin typeface="Segoe UI"/>
              </a:defRPr>
            </a:pPr>
            <a:r>
              <a:t>Thank You! 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